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52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106424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4206240" cy="53035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COFINFAD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Shiny App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Guide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E9F1"/>
                </a:solidFill>
              </a:rPr>
              <a:t>Colombian Fintech Financial Analytics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06908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87552" y="41239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40690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404872" y="41239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4443984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BC6D51"/>
          </a:solidFill>
          <a:ln w="12700">
            <a:solidFill>
              <a:srgbClr val="BC6D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87552" y="449884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Tree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4443984"/>
            <a:ext cx="1115568" cy="292608"/>
          </a:xfrm>
          <a:prstGeom prst="roundRect">
            <a:avLst>
              <a:gd name="adj" fmla="val 25000"/>
            </a:avLst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560320" y="449884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33C"/>
                </a:solidFill>
              </a:rPr>
              <a:t>Insights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39" y="1234440"/>
            <a:ext cx="5295315" cy="115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400" b="1" dirty="0">
                <a:solidFill>
                  <a:srgbClr val="10233C"/>
                </a:solidFill>
              </a:rPr>
              <a:t>THE USER GUIDE</a:t>
            </a:r>
          </a:p>
          <a:p>
            <a:pPr marL="0" indent="0">
              <a:buNone/>
            </a:pPr>
            <a:endParaRPr lang="en-US" sz="2400" b="1" dirty="0">
              <a:solidFill>
                <a:srgbClr val="10233C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App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The app is a multi-module customer intelligence dashboard built on a shared data backbone.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5760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Primary Purpose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3328416" cy="1316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Provide a presentation-ready analytics workspace for customer profiling, transaction analysis, clustering, CLV classification, and business recommendations.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65760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99432" y="153619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Data Backbone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1847088"/>
            <a:ext cx="3328416" cy="1316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The app loads a prepared RDS file, then exposes customer, transaction, summary, master, and predictor objects across all tabs.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321040" y="1371600"/>
            <a:ext cx="329184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485632" y="15361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Target Users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5632" y="1847088"/>
            <a:ext cx="2962656" cy="13167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Instructors, project teams, and stakeholders who need fast exploratory analysis plus interpretable model outputs.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2651760" cy="109728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7764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Main Modules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4087368"/>
            <a:ext cx="2322576" cy="1362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Dashboard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Data Analysis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Clustering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CLV Decision Tree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Business Insights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Shared Data Backbone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3611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474720" y="3611880"/>
            <a:ext cx="388620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639312" y="3776472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Global Interaction Logic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39312" y="4087368"/>
            <a:ext cx="3557016" cy="1362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A single set of sidebar filters updates customers, transactions, monthly summaries, enriched master data, tables, and most charts.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35240" y="36118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635240" y="3611880"/>
            <a:ext cx="397764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799832" y="3776472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Core Objects Seen in app.R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99832" y="4087368"/>
            <a:ext cx="3648456" cy="1362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customer_data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transactions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tx_month_summary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master_dataset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predictor_sets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correlation_vars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Navigation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The sidebar groups the experience into six major sections plus an About page.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074920" cy="109728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96112" y="158191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89280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KPI Cards / Customer Snapshot / Segment Snapshot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07492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565392" y="158191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Data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189280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Customer Profile / Transaction Behavior / CLV-Churn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507492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96112" y="309067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340156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Cluster Overview / Segment Profiles / Cluster Comparison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5074920" cy="109728"/>
          </a:xfrm>
          <a:prstGeom prst="rect">
            <a:avLst/>
          </a:prstGeom>
          <a:solidFill>
            <a:srgbClr val="BC6D51"/>
          </a:solidFill>
          <a:ln w="12700">
            <a:solidFill>
              <a:srgbClr val="BC6D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565392" y="309067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CLV Decision Tree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65392" y="340156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Model Setup / Tree Plot / Performance / Rules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31520" y="4434840"/>
            <a:ext cx="507492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96112" y="459943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Business Insights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91032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Key Findings / Segment Actions / CLV Driver Summary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434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4434840"/>
            <a:ext cx="507492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565392" y="459943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Shared Data Backbone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65392" y="4910328"/>
            <a:ext cx="474573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Customer Data / Transaction Data / Master Dataset / Reactive Filters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6080760"/>
            <a:ext cx="109270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960120" y="6181344"/>
            <a:ext cx="10424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57A"/>
                </a:solidFill>
              </a:rPr>
              <a:t>About page provides app purpose, dataset snapshot, and presentation positioning.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Global Filters and Reactive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Most views respond to one shared filter block in the sidebar.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926080" cy="109728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Available Filters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2596896" cy="2962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Gender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Income Bracket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Customer Segment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CLV Segment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Location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Transaction Types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Transaction Date Range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Reset Filters button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03320" y="2834640"/>
            <a:ext cx="640080" cy="45720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06324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99432" y="15361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Reactive Objects Updated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847088"/>
            <a:ext cx="2734056" cy="2962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filtered_customers()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filtered_tx_month()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filtered_master()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filtered_tx_preview()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driver_correlation_tbl()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Business and KPI outputs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26680" y="2834640"/>
            <a:ext cx="640080" cy="457200"/>
          </a:xfrm>
          <a:prstGeom prst="chevron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458200" y="137160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58200" y="1371600"/>
            <a:ext cx="315468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622792" y="1536192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User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22792" y="1847088"/>
            <a:ext cx="2825496" cy="2962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One filter change can alter KPI values, customer composition plots, transaction trends, clustering inputs, tables, and downloadable outputs.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Dashboard and Data Analysis Pages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These pages support descriptive analysis and pattern discovery before modeling.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3236976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KPI Cards show filtered customers, average CLV, average churn probability, and transaction amount. Additional views include monthly transaction amount, transaction mix, and filter snapshot.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3716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315968" y="1371600"/>
            <a:ext cx="3611880" cy="109728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480560" y="153619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Customer &amp; Segment Snapshots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1847088"/>
            <a:ext cx="3282696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Age, income, gender, occupation, segment size, average CLV by segment, and average churn by segment help users quickly profile the selected cohort.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2044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02752" y="153619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Data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1847088"/>
            <a:ext cx="3191256" cy="1408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Customer profile, transaction behavior, and CLV/churn diagnostics show heatmaps, boxplots, time trends, scatterplots, and correlation tables.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44068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867912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Typical Analysis 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4178808"/>
            <a:ext cx="5111496" cy="1453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Which customer segments carry the highest CLV?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Which segment shows the highest churn risk?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Which transaction types dominate under the chosen date range?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Which demographic or channel variables align with CLV?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7033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217920" y="3703320"/>
            <a:ext cx="5440680" cy="109728"/>
          </a:xfrm>
          <a:prstGeom prst="rect">
            <a:avLst/>
          </a:prstGeom>
          <a:solidFill>
            <a:srgbClr val="BC6D51"/>
          </a:solidFill>
          <a:ln w="12700">
            <a:solidFill>
              <a:srgbClr val="BC6D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382512" y="3867912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Interpretation Tips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4178808"/>
            <a:ext cx="5111496" cy="1453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Use Dashboard for quick summary, then move to Data Analysis for explanations. Correlation outputs are directional clues rather than causal proof.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Clustering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The clustering workflow uses selected variables from the enriched master dataset.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74320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49047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Control Panel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2414016" cy="3236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Variables for K-means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Comparison metric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Number of clusters (k = 2–6)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Max rows used for clustering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Run Clustering button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566160" y="1325880"/>
            <a:ext cx="365760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730752" y="149047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1801368"/>
            <a:ext cx="3328416" cy="3236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The app selects valid features, samples rows when needed, scales numeric data, runs K-means, and generates PCA coordinates for a cluster overview scatter plot.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1325880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452360" y="1325880"/>
            <a:ext cx="416052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16952" y="1490472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Outputs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6952" y="1801368"/>
            <a:ext cx="3831336" cy="3236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PCA scatter plot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Cluster size 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Standardised heatmap of cluster means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Cluster profile 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Selected metric by cluster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Segment mix inside each cluster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C"/>
                </a:solidFill>
              </a:rPr>
              <a:t>Best practice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52657A"/>
                </a:solidFill>
              </a:rPr>
              <a:t>Use business-relevant variables rather than every available feature.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52657A"/>
                </a:solidFill>
              </a:rPr>
              <a:t>Compare multiple k values and inspect whether profiles are interpretable.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52657A"/>
                </a:solidFill>
              </a:rPr>
              <a:t>Read the heatmap with the profile table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CLV Decision Tree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This section builds an interpretable classification model for clv_segment.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063240" cy="39319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063240" cy="109728"/>
          </a:xfrm>
          <a:prstGeom prst="rect">
            <a:avLst/>
          </a:prstGeom>
          <a:solidFill>
            <a:srgbClr val="BC6D51"/>
          </a:solidFill>
          <a:ln w="12700">
            <a:solidFill>
              <a:srgbClr val="BC6D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49047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Model Setup 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2734056" cy="3328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Predictor group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Maximum tree depth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Minimum split size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Complexity parameter (cp)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Train/test split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Random seed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Train Decision Tree button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13258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0" y="1325880"/>
            <a:ext cx="361188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005072" y="149047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Model Logic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5072" y="1801368"/>
            <a:ext cx="3282696" cy="3328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The app excludes target leakage fields, compresses high-cardinality categories, samples if needed, trains an rpart classification tree, and evaluates on a holdout set.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132588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680960" y="1325880"/>
            <a:ext cx="397764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845552" y="1490472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Outputs to Read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45552" y="1801368"/>
            <a:ext cx="3648456" cy="3328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Tree plot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Accuracy / train rows / test rows / terminal nodes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Confusion matrix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Variable importance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Class recall 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• Decision rules &amp; terminal nodes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C"/>
                </a:solidFill>
              </a:rPr>
              <a:t>Interpretation note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833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57A"/>
                </a:solidFill>
              </a:rPr>
              <a:t>This module is useful when you need explainable segments, not just predictive power. Use the rules and top drivers to support business recommendations.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1F38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Business Insights, Data Tables, and Downloads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57A"/>
                </a:solidFill>
              </a:rPr>
              <a:t>The final pages turn analytics into action and support evidence sharing.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57600" cy="109728"/>
          </a:xfrm>
          <a:prstGeom prst="rect">
            <a:avLst/>
          </a:prstGeom>
          <a:solidFill>
            <a:srgbClr val="F0C24F"/>
          </a:solidFill>
          <a:ln w="12700">
            <a:solidFill>
              <a:srgbClr val="F0C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49047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Business Insights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332841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Executive highlights summarise value concentration, retention priority, transaction seasonality, and current top CLV driver under the chosen analytical setting.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3258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407408" y="1325880"/>
            <a:ext cx="356616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49047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Segment Actions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801368"/>
            <a:ext cx="323697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Users can choose a segment and review suggested actions based on churn, satisfaction, product depth, app usage, and segment type.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474720" cy="109728"/>
          </a:xfrm>
          <a:prstGeom prst="rect">
            <a:avLst/>
          </a:prstGeom>
          <a:solidFill>
            <a:srgbClr val="BC6D51"/>
          </a:solidFill>
          <a:ln w="12700">
            <a:solidFill>
              <a:srgbClr val="BC6D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Driver Summary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801368"/>
            <a:ext cx="3145536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The app surfaces either decision-tree importance or CLV/churn correlations as the current evidence base for action.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5532120" cy="109728"/>
          </a:xfrm>
          <a:prstGeom prst="rect">
            <a:avLst/>
          </a:prstGeom>
          <a:solidFill>
            <a:srgbClr val="124C73"/>
          </a:solidFill>
          <a:ln w="12700">
            <a:solidFill>
              <a:srgbClr val="124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685032"/>
            <a:ext cx="520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Shared Data Backbone Pages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3995928"/>
            <a:ext cx="5202936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These tabs expose filtered customer data, filtered transaction samples, an enriched master dataset, the current filter state, and downloadable CSV exports.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35204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355080" y="3520440"/>
            <a:ext cx="5303520" cy="109728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519672" y="3685032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C"/>
                </a:solidFill>
              </a:rPr>
              <a:t>How to Use for Presentation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3995928"/>
            <a:ext cx="4974336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1. Start with KPI Cards.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2. Narrow the cohort with filters.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3. Show descriptive patterns.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4. Demonstrate clustering or the decision tree.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57A"/>
                </a:solidFill>
              </a:rPr>
              <a:t>5. End with Business Insights and segment actions.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1007</Words>
  <Application>Microsoft Office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COFINFAD Dashboard User Guide</dc:title>
  <dc:subject>COFINFAD Shiny App User Guide</dc:subject>
  <dc:creator>Jimmy</dc:creator>
  <cp:lastModifiedBy>WEN Po-yang</cp:lastModifiedBy>
  <cp:revision>3</cp:revision>
  <dcterms:created xsi:type="dcterms:W3CDTF">2026-03-31T18:44:26Z</dcterms:created>
  <dcterms:modified xsi:type="dcterms:W3CDTF">2026-03-31T19:04:20Z</dcterms:modified>
</cp:coreProperties>
</file>